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78" r:id="rId2"/>
    <p:sldId id="298" r:id="rId3"/>
    <p:sldId id="279" r:id="rId4"/>
    <p:sldId id="280" r:id="rId5"/>
    <p:sldId id="288" r:id="rId6"/>
    <p:sldId id="295" r:id="rId7"/>
    <p:sldId id="281" r:id="rId8"/>
    <p:sldId id="299" r:id="rId9"/>
    <p:sldId id="301" r:id="rId10"/>
    <p:sldId id="302" r:id="rId11"/>
    <p:sldId id="303" r:id="rId12"/>
    <p:sldId id="296" r:id="rId13"/>
    <p:sldId id="304" r:id="rId14"/>
    <p:sldId id="293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202C8F"/>
    <a:srgbClr val="DE8C8C"/>
    <a:srgbClr val="AAC4E9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98" autoAdjust="0"/>
    <p:restoredTop sz="94609" autoAdjust="0"/>
  </p:normalViewPr>
  <p:slideViewPr>
    <p:cSldViewPr snapToGrid="0" snapToObjects="1">
      <p:cViewPr>
        <p:scale>
          <a:sx n="110" d="100"/>
          <a:sy n="110" d="100"/>
        </p:scale>
        <p:origin x="378" y="114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14.xml"/><Relationship Id="rId6" Type="http://schemas.microsoft.com/office/2017/06/relationships/model3d" Target="../media/model3d4.glb"/><Relationship Id="rId5" Type="http://schemas.openxmlformats.org/officeDocument/2006/relationships/image" Target="../media/image31.png"/><Relationship Id="rId4" Type="http://schemas.microsoft.com/office/2017/06/relationships/model3d" Target="../media/model3d3.glb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9496" y="4813993"/>
            <a:ext cx="3493008" cy="878908"/>
          </a:xfrm>
        </p:spPr>
        <p:txBody>
          <a:bodyPr/>
          <a:lstStyle/>
          <a:p>
            <a:r>
              <a:rPr lang="en-US" b="1" dirty="0"/>
              <a:t>George Ishak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58B58A-2D57-E44C-1F81-5D14F5E28276}"/>
              </a:ext>
            </a:extLst>
          </p:cNvPr>
          <p:cNvSpPr/>
          <p:nvPr/>
        </p:nvSpPr>
        <p:spPr>
          <a:xfrm>
            <a:off x="2663688" y="1082073"/>
            <a:ext cx="708660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SMART GLOVE </a:t>
            </a:r>
          </a:p>
          <a:p>
            <a:pPr algn="ctr"/>
            <a:r>
              <a:rPr lang="en-US" sz="40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for Gesture-to-Speech Communication</a:t>
            </a:r>
          </a:p>
          <a:p>
            <a:pPr algn="ctr"/>
            <a:endParaRPr lang="en-US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pPr algn="ctr"/>
            <a:r>
              <a:rPr lang="en-US" sz="2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AI-based assistive wearable for mutism/deaf users</a:t>
            </a:r>
            <a:endParaRPr lang="en-US" sz="28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7DEB363-2567-D748-CA82-A7074E6EA318}"/>
              </a:ext>
            </a:extLst>
          </p:cNvPr>
          <p:cNvSpPr txBox="1">
            <a:spLocks/>
          </p:cNvSpPr>
          <p:nvPr/>
        </p:nvSpPr>
        <p:spPr>
          <a:xfrm>
            <a:off x="4547903" y="6331255"/>
            <a:ext cx="3493008" cy="878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DFBF6"/>
                </a:solidFill>
              </a:rPr>
              <a:t>Eng. Ahmad Trad</a:t>
            </a:r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5130-5484-D0AE-93C4-1DED1630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u="none" strike="noStrike" dirty="0">
                <a:solidFill>
                  <a:srgbClr val="DE8C8C"/>
                </a:solidFill>
                <a:effectLst/>
                <a:latin typeface="Google Sans"/>
              </a:rPr>
              <a:t>62% </a:t>
            </a:r>
            <a:r>
              <a:rPr lang="en-US" b="1" u="none" strike="noStrike" dirty="0">
                <a:effectLst/>
                <a:latin typeface="Google Sans"/>
              </a:rPr>
              <a:t>to </a:t>
            </a:r>
            <a:r>
              <a:rPr lang="en-US" sz="3600" b="1" u="none" strike="noStrike" dirty="0">
                <a:solidFill>
                  <a:srgbClr val="DE8C8C"/>
                </a:solidFill>
                <a:effectLst/>
                <a:latin typeface="Google Sans"/>
              </a:rPr>
              <a:t>77% </a:t>
            </a:r>
            <a:r>
              <a:rPr lang="en-US" b="1" u="none" strike="noStrike" dirty="0">
                <a:effectLst/>
                <a:latin typeface="Google Sans"/>
              </a:rPr>
              <a:t>of Deaf individuals experience severe communication difficulties</a:t>
            </a:r>
            <a:r>
              <a:rPr lang="en-US" dirty="0"/>
              <a:t> when interacting with hearing people, such as medical professionals or the general public.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F411B-30E3-AF8D-3AC6-AD997A9418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6929" y="1984248"/>
            <a:ext cx="768096" cy="1627632"/>
          </a:xfrm>
        </p:spPr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3C3DD-4FFB-5FAE-525D-D3C4CDD85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10800000">
            <a:off x="9980302" y="4023360"/>
            <a:ext cx="768096" cy="1627632"/>
          </a:xfrm>
        </p:spPr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E03AB1-06C2-60C4-7613-CD3D7215B7EC}"/>
              </a:ext>
            </a:extLst>
          </p:cNvPr>
          <p:cNvSpPr/>
          <p:nvPr/>
        </p:nvSpPr>
        <p:spPr>
          <a:xfrm>
            <a:off x="2034922" y="-457200"/>
            <a:ext cx="914400" cy="914400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4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59" y="1119225"/>
            <a:ext cx="6747979" cy="552748"/>
          </a:xfrm>
        </p:spPr>
        <p:txBody>
          <a:bodyPr/>
          <a:lstStyle/>
          <a:p>
            <a:r>
              <a:rPr lang="en-US" sz="2800" dirty="0"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Getting to know the glove</a:t>
            </a:r>
            <a:endParaRPr lang="en-US" sz="28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468" y="1979063"/>
            <a:ext cx="6630593" cy="4537744"/>
          </a:xfrm>
        </p:spPr>
        <p:txBody>
          <a:bodyPr/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en-US" dirty="0"/>
              <a:t>Introduction​ and objectives </a:t>
            </a:r>
          </a:p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en-US" dirty="0"/>
              <a:t>​System Overview</a:t>
            </a:r>
          </a:p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en-US" dirty="0"/>
              <a:t>Architecture Diagram</a:t>
            </a:r>
          </a:p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en-US" dirty="0"/>
              <a:t>Hardware Components</a:t>
            </a:r>
          </a:p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en-US" dirty="0"/>
              <a:t>Data Stream</a:t>
            </a:r>
          </a:p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en-US" dirty="0"/>
              <a:t>AI Model</a:t>
            </a:r>
          </a:p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en-US" dirty="0"/>
              <a:t>Trained Gestures</a:t>
            </a:r>
          </a:p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en-US" dirty="0"/>
              <a:t>Model Results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7552EC1-DE79-4BE4-60BE-FE1FDEB34979}"/>
              </a:ext>
            </a:extLst>
          </p:cNvPr>
          <p:cNvSpPr/>
          <p:nvPr/>
        </p:nvSpPr>
        <p:spPr>
          <a:xfrm>
            <a:off x="7615451" y="4510585"/>
            <a:ext cx="914400" cy="914400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527" y="2276856"/>
            <a:ext cx="7899855" cy="768096"/>
          </a:xfrm>
        </p:spPr>
        <p:txBody>
          <a:bodyPr/>
          <a:lstStyle/>
          <a:p>
            <a:r>
              <a:rPr lang="en-US" sz="3200" dirty="0"/>
              <a:t>Introduction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438" y="3253903"/>
            <a:ext cx="7550804" cy="1985352"/>
          </a:xfrm>
        </p:spPr>
        <p:txBody>
          <a:bodyPr/>
          <a:lstStyle/>
          <a:p>
            <a:r>
              <a:rPr lang="en-US" sz="1800" dirty="0"/>
              <a:t>People with speech or hearing difficulties struggle to communicate or waiting for someone to understand gestures can be slow.</a:t>
            </a:r>
          </a:p>
          <a:p>
            <a:endParaRPr lang="en-US" sz="1800" dirty="0"/>
          </a:p>
          <a:p>
            <a:r>
              <a:rPr lang="en-US" sz="1800" dirty="0"/>
              <a:t>Build a wearable glove that detects finger gestures and converts them into spoken words designed for people with mutism, speech difficulties, temporary loss of speech, communication challenges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Reverse arrow">
                <a:extLst>
                  <a:ext uri="{FF2B5EF4-FFF2-40B4-BE49-F238E27FC236}">
                    <a16:creationId xmlns:a16="http://schemas.microsoft.com/office/drawing/2014/main" id="{8E63E8D7-FBC2-49EF-C765-F3A74B0E70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26279227"/>
                  </p:ext>
                </p:extLst>
              </p:nvPr>
            </p:nvGraphicFramePr>
            <p:xfrm>
              <a:off x="3463046" y="3651528"/>
              <a:ext cx="1268525" cy="82440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68525" cy="824403"/>
                    </a:xfrm>
                    <a:prstGeom prst="rect">
                      <a:avLst/>
                    </a:prstGeom>
                  </am3d:spPr>
                  <am3d:camera>
                    <am3d:pos x="0" y="0" z="541775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44561" d="1000000"/>
                    <am3d:preTrans dx="1068" dy="-10121237" dz="6762"/>
                    <am3d:scale>
                      <am3d:sx n="1000000" d="1000000"/>
                      <am3d:sy n="1000000" d="1000000"/>
                      <am3d:sz n="1000000" d="1000000"/>
                    </am3d:scale>
                    <am3d:rot ax="-873734" ay="2195789" az="1027179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5794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Reverse arrow">
                <a:extLst>
                  <a:ext uri="{FF2B5EF4-FFF2-40B4-BE49-F238E27FC236}">
                    <a16:creationId xmlns:a16="http://schemas.microsoft.com/office/drawing/2014/main" id="{8E63E8D7-FBC2-49EF-C765-F3A74B0E70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3046" y="3651528"/>
                <a:ext cx="1268525" cy="824403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person and person with question marks&#10;&#10;AI-generated content may be incorrect.">
            <a:extLst>
              <a:ext uri="{FF2B5EF4-FFF2-40B4-BE49-F238E27FC236}">
                <a16:creationId xmlns:a16="http://schemas.microsoft.com/office/drawing/2014/main" id="{BBA1FCA8-45E1-FB09-BEBE-E1EB0B30ED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262"/>
          <a:stretch/>
        </p:blipFill>
        <p:spPr>
          <a:xfrm>
            <a:off x="-52674" y="2172143"/>
            <a:ext cx="3515721" cy="20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70C77AB-7E91-84A6-3E62-DAB80E1E4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Flex Sensors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5DD9AC8-4A5F-70DB-AA68-C461059D8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Arduino nano 33 </a:t>
            </a:r>
            <a:r>
              <a:rPr lang="en-US" dirty="0" err="1"/>
              <a:t>ble</a:t>
            </a:r>
            <a:r>
              <a:rPr lang="en-US" dirty="0"/>
              <a:t> rev2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CE9DA14-62AB-A857-6387-1F5D330B3F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advanced, 3.3V miniature development board.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28A203B-0CF0-2AB0-5F54-07C8E30039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0629" y="2480284"/>
            <a:ext cx="2011680" cy="2825173"/>
          </a:xfrm>
        </p:spPr>
        <p:txBody>
          <a:bodyPr/>
          <a:lstStyle/>
          <a:p>
            <a:r>
              <a:rPr lang="en-US" dirty="0"/>
              <a:t>Ai gesture prediction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10CB940-D45B-59F1-06E5-9CC94100EF0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en-US" sz="1600" dirty="0">
                <a:latin typeface="Calibri "/>
                <a:ea typeface="Calibri Light" panose="020F0302020204030204" pitchFamily="34" charset="0"/>
                <a:cs typeface="Calibri Light" panose="020F0302020204030204" pitchFamily="34" charset="0"/>
              </a:rPr>
              <a:t>Technology that uses machine learning to anticipate and interpret human body movements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5BC0115-F702-2E0A-61A4-4A6CE33FD7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Glove sensors</a:t>
            </a:r>
          </a:p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0DA38E3-68A2-4FF9-022B-BA0DF832B1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94841" y="3875431"/>
            <a:ext cx="1948896" cy="1441425"/>
          </a:xfrm>
        </p:spPr>
        <p:txBody>
          <a:bodyPr/>
          <a:lstStyle/>
          <a:p>
            <a:pPr lvl="0"/>
            <a:r>
              <a:rPr lang="en-US" sz="1600" dirty="0">
                <a:latin typeface="Calibri "/>
              </a:rPr>
              <a:t>Device equipped with built-in electronic sensors that transmit data about the movement</a:t>
            </a:r>
            <a:endParaRPr lang="en-US" sz="1200" dirty="0">
              <a:latin typeface="Calibri 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9E4C4-75DA-9211-9827-07F597C6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381C1-C6E0-5763-AD29-BDEFEA9EC7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Bendable electronic strips that act as variable resistors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AB953B2-37B6-AF05-FC9A-CCA88B07D868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/>
        </p:blipFill>
        <p:spPr>
          <a:xfrm>
            <a:off x="1286487" y="2128240"/>
            <a:ext cx="704088" cy="704088"/>
          </a:xfrm>
          <a:solidFill>
            <a:schemeClr val="accent1">
              <a:alpha val="0"/>
            </a:schemeClr>
          </a:solidFill>
          <a:ln>
            <a:solidFill>
              <a:schemeClr val="accent1"/>
            </a:solidFill>
          </a:ln>
        </p:spPr>
      </p:pic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066ECFF8-B8AF-21A4-9BAA-356CE48D3DA8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/>
          <a:srcRect/>
          <a:stretch/>
        </p:blipFill>
        <p:spPr>
          <a:ln>
            <a:solidFill>
              <a:schemeClr val="accent3"/>
            </a:solidFill>
          </a:ln>
        </p:spPr>
      </p:pic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D0634163-0955-E916-E961-98E5596E7DAD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4"/>
          <a:srcRect/>
          <a:stretch/>
        </p:blipFill>
        <p:spPr>
          <a:xfrm>
            <a:off x="5770280" y="2093876"/>
            <a:ext cx="721270" cy="721270"/>
          </a:xfrm>
          <a:ln>
            <a:solidFill>
              <a:schemeClr val="accent1"/>
            </a:solidFill>
          </a:ln>
        </p:spPr>
      </p:pic>
      <p:pic>
        <p:nvPicPr>
          <p:cNvPr id="42" name="Picture Placeholder 41">
            <a:extLst>
              <a:ext uri="{FF2B5EF4-FFF2-40B4-BE49-F238E27FC236}">
                <a16:creationId xmlns:a16="http://schemas.microsoft.com/office/drawing/2014/main" id="{8799B0A2-3172-5287-612C-88EEB9DBBA1C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5"/>
          <a:srcRect l="16727" r="16727"/>
          <a:stretch/>
        </p:blipFill>
        <p:spPr>
          <a:ln>
            <a:solidFill>
              <a:schemeClr val="accent3"/>
            </a:solidFill>
          </a:ln>
        </p:spPr>
      </p:pic>
      <p:sp>
        <p:nvSpPr>
          <p:cNvPr id="49" name="Text Placeholder 21">
            <a:extLst>
              <a:ext uri="{FF2B5EF4-FFF2-40B4-BE49-F238E27FC236}">
                <a16:creationId xmlns:a16="http://schemas.microsoft.com/office/drawing/2014/main" id="{30528C80-DD15-ED42-B8A5-AC02C35351CE}"/>
              </a:ext>
            </a:extLst>
          </p:cNvPr>
          <p:cNvSpPr txBox="1">
            <a:spLocks/>
          </p:cNvSpPr>
          <p:nvPr/>
        </p:nvSpPr>
        <p:spPr>
          <a:xfrm>
            <a:off x="9547630" y="2480284"/>
            <a:ext cx="2011680" cy="282517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vert="horz" lIns="91440" tIns="68580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 cap="all" spc="0" baseline="0">
                <a:solidFill>
                  <a:schemeClr val="accent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Speech / </a:t>
            </a:r>
            <a:r>
              <a:rPr lang="en-US" dirty="0" err="1"/>
              <a:t>TExt</a:t>
            </a:r>
            <a:r>
              <a:rPr lang="en-US" dirty="0"/>
              <a:t> output </a:t>
            </a:r>
          </a:p>
          <a:p>
            <a:endParaRPr lang="en-US" dirty="0"/>
          </a:p>
        </p:txBody>
      </p:sp>
      <p:pic>
        <p:nvPicPr>
          <p:cNvPr id="51" name="Picture Placeholder 41">
            <a:extLst>
              <a:ext uri="{FF2B5EF4-FFF2-40B4-BE49-F238E27FC236}">
                <a16:creationId xmlns:a16="http://schemas.microsoft.com/office/drawing/2014/main" id="{34A48EE0-6E8C-1BF2-BA19-A8C071396E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648" b="3648"/>
          <a:stretch/>
        </p:blipFill>
        <p:spPr>
          <a:xfrm>
            <a:off x="10201425" y="2128240"/>
            <a:ext cx="704088" cy="704088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7C63BFE-2A30-77A6-2B1D-539243E9D9C5}"/>
              </a:ext>
            </a:extLst>
          </p:cNvPr>
          <p:cNvSpPr txBox="1"/>
          <p:nvPr/>
        </p:nvSpPr>
        <p:spPr>
          <a:xfrm>
            <a:off x="9784124" y="3993418"/>
            <a:ext cx="16458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02C8F"/>
                </a:solidFill>
                <a:latin typeface="Calibri "/>
              </a:rPr>
              <a:t>How computers communicate: either by reading words aloud or typing them</a:t>
            </a:r>
          </a:p>
        </p:txBody>
      </p:sp>
    </p:spTree>
    <p:extLst>
      <p:ext uri="{BB962C8B-B14F-4D97-AF65-F5344CB8AC3E}">
        <p14:creationId xmlns:p14="http://schemas.microsoft.com/office/powerpoint/2010/main" val="1600494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7F8A-C74E-85B5-254B-21C484AA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99720"/>
            <a:ext cx="10671048" cy="768096"/>
          </a:xfrm>
        </p:spPr>
        <p:txBody>
          <a:bodyPr/>
          <a:lstStyle/>
          <a:p>
            <a:r>
              <a:rPr lang="en-US" dirty="0"/>
              <a:t>Hardware components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F3FE23B0-74FA-2075-2503-7DA5A0C752A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18150" r="18150"/>
          <a:stretch>
            <a:fillRect/>
          </a:stretch>
        </p:blipFill>
        <p:spPr>
          <a:xfrm>
            <a:off x="1798638" y="1428750"/>
            <a:ext cx="2038655" cy="1836230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274815-615B-08ED-D191-204CF1926F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8320" y="3131002"/>
            <a:ext cx="2029968" cy="694944"/>
          </a:xfrm>
        </p:spPr>
        <p:txBody>
          <a:bodyPr/>
          <a:lstStyle/>
          <a:p>
            <a:r>
              <a:rPr lang="en-US" dirty="0"/>
              <a:t>Arduino nano 33 </a:t>
            </a:r>
            <a:r>
              <a:rPr lang="en-US" dirty="0" err="1"/>
              <a:t>ble</a:t>
            </a:r>
            <a:r>
              <a:rPr lang="en-US" dirty="0"/>
              <a:t> rev 2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2212C4D-2B83-FF20-EF83-1A5914B2E3FD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/>
          <a:srcRect l="39" r="39"/>
          <a:stretch>
            <a:fillRect/>
          </a:stretch>
        </p:blipFill>
        <p:spPr>
          <a:xfrm>
            <a:off x="2813050" y="4067175"/>
            <a:ext cx="2030413" cy="18288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0A09C6D-FAFC-5F8E-45B7-7E372081A1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13304" y="5768185"/>
            <a:ext cx="2029968" cy="694944"/>
          </a:xfrm>
        </p:spPr>
        <p:txBody>
          <a:bodyPr/>
          <a:lstStyle/>
          <a:p>
            <a:r>
              <a:rPr lang="en-US" dirty="0"/>
              <a:t>glove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C5F8C73-0951-77EF-779F-FBEE19B95AA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/>
          <a:srcRect t="4965" b="4965"/>
          <a:stretch/>
        </p:blipFill>
        <p:spPr>
          <a:xfrm>
            <a:off x="5127625" y="1431925"/>
            <a:ext cx="2030413" cy="1828800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F3FB195-4287-A874-4738-6BC6515A50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27929" y="3131002"/>
            <a:ext cx="2029968" cy="694944"/>
          </a:xfrm>
        </p:spPr>
        <p:txBody>
          <a:bodyPr/>
          <a:lstStyle/>
          <a:p>
            <a:r>
              <a:rPr lang="it-IT" dirty="0"/>
              <a:t>5 flex sensors</a:t>
            </a:r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C9693DA-26A5-BBFD-52AB-5433074322F4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/>
          <a:srcRect t="16197" b="16197"/>
          <a:stretch>
            <a:fillRect/>
          </a:stretch>
        </p:blipFill>
        <p:spPr>
          <a:xfrm>
            <a:off x="8575675" y="1428750"/>
            <a:ext cx="2028825" cy="1828800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7433C27-0F6E-7FB5-2D56-68554F37764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75084" y="3201416"/>
            <a:ext cx="2029968" cy="694944"/>
          </a:xfrm>
        </p:spPr>
        <p:txBody>
          <a:bodyPr/>
          <a:lstStyle/>
          <a:p>
            <a:r>
              <a:rPr lang="en-US" dirty="0"/>
              <a:t>Resistors 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B757FD7A-5C08-CF66-FF0E-E400DC842F3A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6"/>
          <a:srcRect t="29946" b="29946"/>
          <a:stretch>
            <a:fillRect/>
          </a:stretch>
        </p:blipFill>
        <p:spPr>
          <a:xfrm>
            <a:off x="6964464" y="3961384"/>
            <a:ext cx="2030412" cy="1828800"/>
          </a:xfrm>
        </p:spPr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9BC5C8C-E034-4D2D-2AD5-4843D3DF7D9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64908" y="5719770"/>
            <a:ext cx="2029968" cy="694944"/>
          </a:xfrm>
        </p:spPr>
        <p:txBody>
          <a:bodyPr/>
          <a:lstStyle/>
          <a:p>
            <a:r>
              <a:rPr lang="en-US" dirty="0"/>
              <a:t>Mobile device</a:t>
            </a:r>
          </a:p>
        </p:txBody>
      </p:sp>
    </p:spTree>
    <p:extLst>
      <p:ext uri="{BB962C8B-B14F-4D97-AF65-F5344CB8AC3E}">
        <p14:creationId xmlns:p14="http://schemas.microsoft.com/office/powerpoint/2010/main" val="3429377735"/>
      </p:ext>
    </p:extLst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2882" y="3169920"/>
            <a:ext cx="8985152" cy="368808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Index  = A0 / Middle = A1/ Ring   = A2 / Pinky  = A3 / Thumb  = A4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Arduino sends clean 5-value data</a:t>
            </a:r>
          </a:p>
          <a:p>
            <a:pPr algn="ctr"/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index, middle, ring, pinky, thumb</a:t>
            </a: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Example: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100,0,0,0,0 = Index active </a:t>
            </a:r>
          </a:p>
          <a:p>
            <a:pPr algn="ctr"/>
            <a:r>
              <a:rPr lang="en-US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0,100,0,0,0 = Middle active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F85364-ED80-F034-75D5-E9A41CAF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2468" y="995621"/>
            <a:ext cx="4615543" cy="768096"/>
          </a:xfrm>
        </p:spPr>
        <p:txBody>
          <a:bodyPr/>
          <a:lstStyle/>
          <a:p>
            <a:r>
              <a:rPr lang="en-US" sz="3200" dirty="0"/>
              <a:t>Finger Sensor Mapping and data stream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B71C5A-BFB5-4227-C46E-B554A805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032" y="745910"/>
            <a:ext cx="8467344" cy="1292751"/>
          </a:xfrm>
        </p:spPr>
        <p:txBody>
          <a:bodyPr/>
          <a:lstStyle/>
          <a:p>
            <a:pPr algn="ctr"/>
            <a:r>
              <a:rPr lang="en-US" sz="3600" dirty="0"/>
              <a:t>Ai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A80A5B-CCC1-2029-5CD4-394D5D777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88779" y="1697255"/>
            <a:ext cx="8367060" cy="43063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/>
              <a:t>The project uses a </a:t>
            </a:r>
            <a:r>
              <a:rPr lang="en-US" sz="2400" b="1" i="1" dirty="0"/>
              <a:t>Random Forest Classifier</a:t>
            </a:r>
            <a:r>
              <a:rPr lang="en-US" sz="2400" dirty="0"/>
              <a:t> to recognize gestures from finger sensor values.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It was chosen because it works well with numerical sensor data and noisy prototype readings.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7E43F-800F-EBF5-4337-AABF0FFD72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3" t="26524" r="173" b="5921"/>
          <a:stretch>
            <a:fillRect/>
          </a:stretch>
        </p:blipFill>
        <p:spPr>
          <a:xfrm>
            <a:off x="3932669" y="3975234"/>
            <a:ext cx="7358286" cy="279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116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F7ECD-8A02-D7BB-4086-2D91FA10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216152"/>
            <a:ext cx="10671048" cy="768096"/>
          </a:xfrm>
        </p:spPr>
        <p:txBody>
          <a:bodyPr/>
          <a:lstStyle/>
          <a:p>
            <a:r>
              <a:rPr lang="en-US" dirty="0"/>
              <a:t>Dataset and gestures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7D7CC-580B-B85A-AA3B-35C06CC8D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4EFC0-AF9A-8403-4E55-212D1B20E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yes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2CB204-D13F-C887-A001-B78F286B13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031225-6A75-8637-2D41-6BF8834B3A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F15B91-68E7-A60C-D90B-13C09310A7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help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FA528C-C09C-11A1-2B1D-DA4301B280F7}"/>
              </a:ext>
            </a:extLst>
          </p:cNvPr>
          <p:cNvSpPr/>
          <p:nvPr/>
        </p:nvSpPr>
        <p:spPr>
          <a:xfrm>
            <a:off x="1369292" y="483191"/>
            <a:ext cx="914400" cy="914400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CCCAEA-3690-5FB5-A6A7-88C3034F3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1" y="4235570"/>
            <a:ext cx="1652105" cy="22034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D0BAE43-0EE6-8CCB-F683-D50AFC213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454" y="4235570"/>
            <a:ext cx="1806204" cy="24089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24EEA82-9DB7-26EE-59B5-50C6FAA11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484" y="4235570"/>
            <a:ext cx="1806205" cy="240894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21FD942-EC1D-4386-797E-CE607CEC0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524" y="4235567"/>
            <a:ext cx="1652106" cy="220342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2104E8A-83E1-07AE-E7D7-327E6811D0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418" t="4190" r="7151" b="17734"/>
          <a:stretch>
            <a:fillRect/>
          </a:stretch>
        </p:blipFill>
        <p:spPr>
          <a:xfrm>
            <a:off x="9900141" y="4357487"/>
            <a:ext cx="1587745" cy="208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11775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8001-D7B6-D4F5-B692-80B614B86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47742-9A05-7C04-1A4C-A646F15B1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trained model reached about </a:t>
            </a:r>
            <a:r>
              <a:rPr lang="en-US" sz="2800" b="1" dirty="0">
                <a:solidFill>
                  <a:srgbClr val="DE8C8C"/>
                </a:solidFill>
              </a:rPr>
              <a:t>93% accuracy</a:t>
            </a:r>
            <a:r>
              <a:rPr lang="en-US" sz="2800" dirty="0"/>
              <a:t>, showing that the prototype can recognize the selected gestures successfully.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E92950-33D3-F163-B1BF-767BB3A633FD}"/>
              </a:ext>
            </a:extLst>
          </p:cNvPr>
          <p:cNvSpPr/>
          <p:nvPr/>
        </p:nvSpPr>
        <p:spPr>
          <a:xfrm>
            <a:off x="1554480" y="5606521"/>
            <a:ext cx="914400" cy="914400"/>
          </a:xfrm>
          <a:prstGeom prst="ellipse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49583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C4F0E-B1C4-D8E9-94B4-68B4AA623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30" y="1097436"/>
            <a:ext cx="10671048" cy="768096"/>
          </a:xfrm>
        </p:spPr>
        <p:txBody>
          <a:bodyPr/>
          <a:lstStyle/>
          <a:p>
            <a:r>
              <a:rPr lang="en-US" dirty="0"/>
              <a:t>Current prototype proves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A3826-F841-B416-AF89-A1D04FA6D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187" y="2113170"/>
            <a:ext cx="11119104" cy="4434840"/>
          </a:xfrm>
        </p:spPr>
        <p:txBody>
          <a:bodyPr/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3200" b="1" dirty="0"/>
              <a:t>Sensors reading are working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AI prediction is working 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Speech output working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Gesture-to-word pipeline works</a:t>
            </a:r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FE958D8F-F6A0-B306-E7EC-661606EED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1309" y="2201175"/>
            <a:ext cx="1096371" cy="1096371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CC9AB760-2BDE-6604-95B4-F7A9A146F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9629" y="3281793"/>
            <a:ext cx="1096371" cy="1096371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855CB62F-1086-D375-58DD-E7BDE03A6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3368" y="4393917"/>
            <a:ext cx="1096371" cy="1096371"/>
          </a:xfrm>
          <a:prstGeom prst="rect">
            <a:avLst/>
          </a:prstGeom>
        </p:spPr>
      </p:pic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C68E1E51-A3C9-A64B-8FDB-C9032A307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9685" y="5458784"/>
            <a:ext cx="1096371" cy="109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1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132E-F4BF-3D7D-F236-192AC22AE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620921"/>
            <a:ext cx="6766560" cy="768096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A824E-E96E-38A3-48BF-47CE654E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557528"/>
            <a:ext cx="7712311" cy="2700528"/>
          </a:xfrm>
        </p:spPr>
        <p:txBody>
          <a:bodyPr/>
          <a:lstStyle/>
          <a:p>
            <a:r>
              <a:rPr lang="en-US" sz="2400" dirty="0"/>
              <a:t>The prototype proves that finger gestures can be detected, classified using AI, displayed on a mobile app, and converted into speech.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D2D44-F187-4E98-77E4-3BEF4DB04A1C}"/>
              </a:ext>
            </a:extLst>
          </p:cNvPr>
          <p:cNvSpPr txBox="1">
            <a:spLocks/>
          </p:cNvSpPr>
          <p:nvPr/>
        </p:nvSpPr>
        <p:spPr>
          <a:xfrm>
            <a:off x="1851342" y="3429000"/>
            <a:ext cx="7712311" cy="27005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/>
              <a:t>Future Improvements</a:t>
            </a:r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US" sz="2400" dirty="0"/>
              <a:t>More Gestures</a:t>
            </a:r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US" sz="2400" dirty="0"/>
              <a:t>Two-Glove Support</a:t>
            </a:r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US" sz="2400" dirty="0"/>
              <a:t>Better Sensor Mounting</a:t>
            </a:r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US" sz="2400" dirty="0"/>
              <a:t>On-device AI Optimization</a:t>
            </a:r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US" sz="2400" dirty="0"/>
              <a:t>Multilingual Speech Output </a:t>
            </a:r>
          </a:p>
        </p:txBody>
      </p:sp>
      <p:pic>
        <p:nvPicPr>
          <p:cNvPr id="10" name="Picture 9" descr="A pair of hands with gloves&#10;&#10;AI-generated content may be incorrect.">
            <a:extLst>
              <a:ext uri="{FF2B5EF4-FFF2-40B4-BE49-F238E27FC236}">
                <a16:creationId xmlns:a16="http://schemas.microsoft.com/office/drawing/2014/main" id="{D5EE51F3-394A-DE28-47D1-D2E4D54ED7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17"/>
          <a:stretch/>
        </p:blipFill>
        <p:spPr>
          <a:xfrm>
            <a:off x="0" y="4426567"/>
            <a:ext cx="3492804" cy="243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78484"/>
      </p:ext>
    </p:extLst>
  </p:cSld>
  <p:clrMapOvr>
    <a:masterClrMapping/>
  </p:clrMapOvr>
  <p:transition spd="slow">
    <p:cover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4AE33-BC31-E93F-3448-4CC74388A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/>
              <a:t>QUESTIONS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Question mark">
                <a:extLst>
                  <a:ext uri="{FF2B5EF4-FFF2-40B4-BE49-F238E27FC236}">
                    <a16:creationId xmlns:a16="http://schemas.microsoft.com/office/drawing/2014/main" id="{1669E73A-0616-272D-40B7-919B6DF17E8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9265131"/>
                  </p:ext>
                </p:extLst>
              </p:nvPr>
            </p:nvGraphicFramePr>
            <p:xfrm>
              <a:off x="6444957" y="3195168"/>
              <a:ext cx="1562085" cy="260913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562085" cy="2609137"/>
                    </a:xfrm>
                    <a:prstGeom prst="rect">
                      <a:avLst/>
                    </a:prstGeom>
                  </am3d:spPr>
                  <am3d:camera>
                    <am3d:pos x="0" y="0" z="553895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517042" d="1000000"/>
                    <am3d:preTrans dx="0" dy="-18004113" dz="-4973"/>
                    <am3d:scale>
                      <am3d:sx n="1000000" d="1000000"/>
                      <am3d:sy n="1000000" d="1000000"/>
                      <am3d:sz n="1000000" d="1000000"/>
                    </am3d:scale>
                    <am3d:rot ax="305333" ay="-1625121" az="-13931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8525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Question mark">
                <a:extLst>
                  <a:ext uri="{FF2B5EF4-FFF2-40B4-BE49-F238E27FC236}">
                    <a16:creationId xmlns:a16="http://schemas.microsoft.com/office/drawing/2014/main" id="{1669E73A-0616-272D-40B7-919B6DF17E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44957" y="3195168"/>
                <a:ext cx="1562085" cy="26091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Light Gray Question mark">
                <a:extLst>
                  <a:ext uri="{FF2B5EF4-FFF2-40B4-BE49-F238E27FC236}">
                    <a16:creationId xmlns:a16="http://schemas.microsoft.com/office/drawing/2014/main" id="{E0DD011B-3BB5-0F4F-8972-8F5BD2A0FA7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84910961"/>
                  </p:ext>
                </p:extLst>
              </p:nvPr>
            </p:nvGraphicFramePr>
            <p:xfrm>
              <a:off x="4584712" y="3929576"/>
              <a:ext cx="1546919" cy="259009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546919" cy="2590093"/>
                    </a:xfrm>
                    <a:prstGeom prst="rect">
                      <a:avLst/>
                    </a:prstGeom>
                  </am3d:spPr>
                  <am3d:camera>
                    <am3d:pos x="0" y="0" z="553895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517042" d="1000000"/>
                    <am3d:preTrans dx="0" dy="-18004113" dz="-4973"/>
                    <am3d:scale>
                      <am3d:sx n="1000000" d="1000000"/>
                      <am3d:sy n="1000000" d="1000000"/>
                      <am3d:sz n="1000000" d="1000000"/>
                    </am3d:scale>
                    <am3d:rot ax="168204" ay="-1568609" az="-7416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0852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Light Gray Question mark">
                <a:extLst>
                  <a:ext uri="{FF2B5EF4-FFF2-40B4-BE49-F238E27FC236}">
                    <a16:creationId xmlns:a16="http://schemas.microsoft.com/office/drawing/2014/main" id="{E0DD011B-3BB5-0F4F-8972-8F5BD2A0FA7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4712" y="3929576"/>
                <a:ext cx="1546919" cy="25900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 descr="Question Mark">
                <a:extLst>
                  <a:ext uri="{FF2B5EF4-FFF2-40B4-BE49-F238E27FC236}">
                    <a16:creationId xmlns:a16="http://schemas.microsoft.com/office/drawing/2014/main" id="{A1B25081-79E7-74E4-DD2F-5C9036B37E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06410661"/>
                  </p:ext>
                </p:extLst>
              </p:nvPr>
            </p:nvGraphicFramePr>
            <p:xfrm>
              <a:off x="2755119" y="3225965"/>
              <a:ext cx="1712258" cy="2547543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712258" cy="2547543"/>
                    </a:xfrm>
                    <a:prstGeom prst="rect">
                      <a:avLst/>
                    </a:prstGeom>
                  </am3d:spPr>
                  <am3d:camera>
                    <am3d:pos x="0" y="0" z="5861527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75758" d="1000000"/>
                    <am3d:preTrans dx="-721111" dy="-18000000" dz="8896"/>
                    <am3d:scale>
                      <am3d:sx n="1000000" d="1000000"/>
                      <am3d:sy n="1000000" d="1000000"/>
                      <am3d:sz n="1000000" d="1000000"/>
                    </am3d:scale>
                    <am3d:rot ax="101048" ay="-1521309" az="-43283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0608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 descr="Question Mark">
                <a:extLst>
                  <a:ext uri="{FF2B5EF4-FFF2-40B4-BE49-F238E27FC236}">
                    <a16:creationId xmlns:a16="http://schemas.microsoft.com/office/drawing/2014/main" id="{A1B25081-79E7-74E4-DD2F-5C9036B37E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55119" y="3225965"/>
                <a:ext cx="1712258" cy="25475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88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591" y="2053087"/>
            <a:ext cx="6404522" cy="3614468"/>
          </a:xfrm>
        </p:spPr>
        <p:txBody>
          <a:bodyPr/>
          <a:lstStyle/>
          <a:p>
            <a:r>
              <a:rPr lang="en-US" sz="6000" dirty="0"/>
              <a:t>THANK YOU</a:t>
            </a:r>
            <a:br>
              <a:rPr lang="en-US" sz="6000" dirty="0"/>
            </a:br>
            <a:r>
              <a:rPr lang="en-US" sz="6000" dirty="0"/>
              <a:t>FOR LISTENING</a:t>
            </a:r>
            <a:br>
              <a:rPr lang="en-US" sz="6000" dirty="0"/>
            </a:br>
            <a:br>
              <a:rPr lang="en-US" sz="6000" dirty="0"/>
            </a:br>
            <a:r>
              <a:rPr lang="en-US" sz="1800" dirty="0"/>
              <a:t>George ishak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4b0b9e5-52a3-45cd-b3b4-ea499d8dccd2}" enabled="1" method="Standard" siteId="{2ad96934-43e5-41c2-9761-f335fe214cc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{AA363896-CBB2-44D3-811D-DCDFAAB3F54E}tf78438558_win32</Template>
  <TotalTime>1250</TotalTime>
  <Words>390</Words>
  <Application>Microsoft Office PowerPoint</Application>
  <PresentationFormat>Widescreen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Calibri </vt:lpstr>
      <vt:lpstr>Courier New</vt:lpstr>
      <vt:lpstr>Google Sans</vt:lpstr>
      <vt:lpstr>Sabon Next LT</vt:lpstr>
      <vt:lpstr>Wingdings</vt:lpstr>
      <vt:lpstr>Office Theme</vt:lpstr>
      <vt:lpstr>PowerPoint Presentation</vt:lpstr>
      <vt:lpstr>62% to 77% of Deaf individuals experience severe communication difficulties when interacting with hearing people, such as medical professionals or the general public.</vt:lpstr>
      <vt:lpstr>Getting to know the glove</vt:lpstr>
      <vt:lpstr>Introduction And Objective</vt:lpstr>
      <vt:lpstr>System Overview</vt:lpstr>
      <vt:lpstr>Hardware components</vt:lpstr>
      <vt:lpstr>Finger Sensor Mapping and data stream</vt:lpstr>
      <vt:lpstr>Ai model</vt:lpstr>
      <vt:lpstr>Dataset and gestures</vt:lpstr>
      <vt:lpstr>results</vt:lpstr>
      <vt:lpstr>Current prototype proves</vt:lpstr>
      <vt:lpstr>conclusion</vt:lpstr>
      <vt:lpstr>QUESTIONS</vt:lpstr>
      <vt:lpstr>THANK YOU FOR LISTENING  George ishak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Jason Greich</dc:creator>
  <cp:lastModifiedBy>George ishak</cp:lastModifiedBy>
  <cp:revision>11</cp:revision>
  <dcterms:created xsi:type="dcterms:W3CDTF">2023-07-08T16:48:40Z</dcterms:created>
  <dcterms:modified xsi:type="dcterms:W3CDTF">2026-06-08T10:21:21Z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4b0b9e5-52a3-45cd-b3b4-ea499d8dccd2_Enabled">
    <vt:lpwstr>true</vt:lpwstr>
  </property>
  <property fmtid="{D5CDD505-2E9C-101B-9397-08002B2CF9AE}" pid="3" name="MSIP_Label_14b0b9e5-52a3-45cd-b3b4-ea499d8dccd2_SetDate">
    <vt:lpwstr>2023-07-08T17:04:49Z</vt:lpwstr>
  </property>
  <property fmtid="{D5CDD505-2E9C-101B-9397-08002B2CF9AE}" pid="4" name="MSIP_Label_14b0b9e5-52a3-45cd-b3b4-ea499d8dccd2_Method">
    <vt:lpwstr>Standard</vt:lpwstr>
  </property>
  <property fmtid="{D5CDD505-2E9C-101B-9397-08002B2CF9AE}" pid="5" name="MSIP_Label_14b0b9e5-52a3-45cd-b3b4-ea499d8dccd2_Name">
    <vt:lpwstr>defa4170-0d19-0005-0004-bc88714345d2</vt:lpwstr>
  </property>
  <property fmtid="{D5CDD505-2E9C-101B-9397-08002B2CF9AE}" pid="6" name="MSIP_Label_14b0b9e5-52a3-45cd-b3b4-ea499d8dccd2_SiteId">
    <vt:lpwstr>2ad96934-43e5-41c2-9761-f335fe214cc3</vt:lpwstr>
  </property>
  <property fmtid="{D5CDD505-2E9C-101B-9397-08002B2CF9AE}" pid="7" name="MSIP_Label_14b0b9e5-52a3-45cd-b3b4-ea499d8dccd2_ActionId">
    <vt:lpwstr>b5f317d8-e926-4432-928e-df4ea51565e4</vt:lpwstr>
  </property>
  <property fmtid="{D5CDD505-2E9C-101B-9397-08002B2CF9AE}" pid="8" name="MSIP_Label_14b0b9e5-52a3-45cd-b3b4-ea499d8dccd2_ContentBits">
    <vt:lpwstr>0</vt:lpwstr>
  </property>
</Properties>
</file>